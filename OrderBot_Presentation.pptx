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9265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Bottleneck to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Delivery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OrderBot AI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Head of Operations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1: The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Current Order Process Is a Bottleneck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intervention required for every incoming order slows us down and scales poorly.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4023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 Entry:  </a:t>
            </a: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PDFs leads to high overhead and transcription errors.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773936"/>
            <a:ext cx="4023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Switching:  </a:t>
            </a: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Bouncing between Email, Salesforce, and Sheets disrupts focus.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4023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Delays:  </a:t>
            </a: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Problematic orders bottleneck in an operations inbox rather than bouncing back to Sales instantly.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97880" y="1170432"/>
            <a:ext cx="1371600" cy="347472"/>
          </a:xfrm>
          <a:prstGeom prst="rect">
            <a:avLst/>
          </a:prstGeom>
          <a:solidFill>
            <a:srgbClr val="CADCFC"/>
          </a:solidFill>
          <a:ln w="19050">
            <a:solidFill>
              <a:srgbClr val="02809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97880" y="1170432"/>
            <a:ext cx="13716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Shared Inbox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97880" y="1719072"/>
            <a:ext cx="1371600" cy="347472"/>
          </a:xfrm>
          <a:prstGeom prst="rect">
            <a:avLst/>
          </a:prstGeom>
          <a:solidFill>
            <a:srgbClr val="F9D0C4"/>
          </a:solidFill>
          <a:ln w="19050">
            <a:solidFill>
              <a:srgbClr val="E74C3C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97880" y="1719072"/>
            <a:ext cx="13716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Ops Human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97880" y="2267712"/>
            <a:ext cx="1371600" cy="347472"/>
          </a:xfrm>
          <a:prstGeom prst="rect">
            <a:avLst/>
          </a:prstGeom>
          <a:solidFill>
            <a:srgbClr val="F9D0C4"/>
          </a:solidFill>
          <a:ln w="19050">
            <a:solidFill>
              <a:srgbClr val="E74C3C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97880" y="2267712"/>
            <a:ext cx="13716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Check Salesforce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97880" y="2816352"/>
            <a:ext cx="1371600" cy="347472"/>
          </a:xfrm>
          <a:prstGeom prst="rect">
            <a:avLst/>
          </a:prstGeom>
          <a:solidFill>
            <a:srgbClr val="F9D0C4"/>
          </a:solidFill>
          <a:ln w="19050">
            <a:solidFill>
              <a:srgbClr val="E74C3C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97880" y="2816352"/>
            <a:ext cx="13716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Check G-Sheets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97880" y="3273552"/>
            <a:ext cx="1371600" cy="347472"/>
          </a:xfrm>
          <a:prstGeom prst="rect">
            <a:avLst/>
          </a:prstGeom>
          <a:solidFill>
            <a:srgbClr val="F4F6FB"/>
          </a:solidFill>
          <a:ln w="19050">
            <a:solidFill>
              <a:srgbClr val="02809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97880" y="3273552"/>
            <a:ext cx="13716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Decision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583680" y="1517904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5179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583680" y="2066544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20482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PDF Read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583680" y="2615184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25968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583680" y="3163824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66360" y="3858768"/>
            <a:ext cx="1188720" cy="347472"/>
          </a:xfrm>
          <a:prstGeom prst="rect">
            <a:avLst/>
          </a:prstGeom>
          <a:solidFill>
            <a:srgbClr val="F9D0C4"/>
          </a:solidFill>
          <a:ln w="19050">
            <a:solidFill>
              <a:srgbClr val="E74C3C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66360" y="3858768"/>
            <a:ext cx="11887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Customer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355080" y="3858768"/>
            <a:ext cx="1188720" cy="347472"/>
          </a:xfrm>
          <a:prstGeom prst="rect">
            <a:avLst/>
          </a:prstGeom>
          <a:solidFill>
            <a:srgbClr val="F9D0C4"/>
          </a:solidFill>
          <a:ln w="19050">
            <a:solidFill>
              <a:srgbClr val="E74C3C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55080" y="3858768"/>
            <a:ext cx="11887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Warehouse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543800" y="3858768"/>
            <a:ext cx="1188720" cy="347472"/>
          </a:xfrm>
          <a:prstGeom prst="rect">
            <a:avLst/>
          </a:prstGeom>
          <a:solidFill>
            <a:srgbClr val="F9D0C4"/>
          </a:solidFill>
          <a:ln w="19050">
            <a:solidFill>
              <a:srgbClr val="E74C3C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543800" y="3858768"/>
            <a:ext cx="118872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Sales Rep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(exception)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60720" y="3621024"/>
            <a:ext cx="0" cy="237744"/>
          </a:xfrm>
          <a:prstGeom prst="line">
            <a:avLst/>
          </a:prstGeom>
          <a:noFill/>
          <a:ln w="12700">
            <a:solidFill>
              <a:srgbClr val="E74C3C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949440" y="3621024"/>
            <a:ext cx="0" cy="237744"/>
          </a:xfrm>
          <a:prstGeom prst="line">
            <a:avLst/>
          </a:prstGeom>
          <a:noFill/>
          <a:ln w="12700">
            <a:solidFill>
              <a:srgbClr val="E74C3C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8138160" y="3621024"/>
            <a:ext cx="0" cy="237744"/>
          </a:xfrm>
          <a:prstGeom prst="line">
            <a:avLst/>
          </a:prstGeom>
          <a:noFill/>
          <a:ln w="12700">
            <a:solidFill>
              <a:srgbClr val="E74C3C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5120640" y="369417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E74C3C"/>
                </a:solidFill>
              </a:rPr>
              <a:t>Manual Draft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309360" y="3694176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E74C3C"/>
                </a:solidFill>
              </a:rPr>
              <a:t>Manual Draft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635240" y="3694176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E74C3C"/>
                </a:solidFill>
              </a:rPr>
              <a:t>Delay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029200" y="10058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Current Process Flow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2: The Solution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'OrderBot'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OrderBot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</a:t>
            </a: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Agent</a:t>
            </a: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connects directly to our systems via API tools to instantly execute the decision tree 24/7.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931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Autonomously process 100% of new hardware orders within 5 minutes at 99.5% accuracy.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792224"/>
            <a:ext cx="3931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(Tools):  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API, PDF Parsing Tool, Salesforce API, Google Sheets API.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3931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Planning:  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→ Query → Decide → Act.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3931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(Tools):  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Sender, Salesforce Updater, Sheets Decrement.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054096"/>
            <a:ext cx="39319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Memory/Learning:  </a:t>
            </a: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outcomes to flag consistently problematic sales reps for human review.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49340" y="1170432"/>
            <a:ext cx="1417320" cy="338328"/>
          </a:xfrm>
          <a:prstGeom prst="rect">
            <a:avLst/>
          </a:prstGeom>
          <a:solidFill>
            <a:srgbClr val="CADCFC"/>
          </a:solidFill>
          <a:ln w="19050">
            <a:solidFill>
              <a:srgbClr val="02809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49340" y="1170432"/>
            <a:ext cx="14173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Shared Inbox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49340" y="1691640"/>
            <a:ext cx="1417320" cy="338328"/>
          </a:xfrm>
          <a:prstGeom prst="rect">
            <a:avLst/>
          </a:prstGeom>
          <a:solidFill>
            <a:srgbClr val="D4EDDA"/>
          </a:solidFill>
          <a:ln w="19050">
            <a:solidFill>
              <a:srgbClr val="28A745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49340" y="1691640"/>
            <a:ext cx="14173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OrderBot Agent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49340" y="2212848"/>
            <a:ext cx="1417320" cy="338328"/>
          </a:xfrm>
          <a:prstGeom prst="rect">
            <a:avLst/>
          </a:prstGeom>
          <a:solidFill>
            <a:srgbClr val="D4EDDA"/>
          </a:solidFill>
          <a:ln w="19050">
            <a:solidFill>
              <a:srgbClr val="28A745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49340" y="2212848"/>
            <a:ext cx="14173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Extract PDF API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49340" y="2734056"/>
            <a:ext cx="1417320" cy="338328"/>
          </a:xfrm>
          <a:prstGeom prst="rect">
            <a:avLst/>
          </a:prstGeom>
          <a:solidFill>
            <a:srgbClr val="D4EDDA"/>
          </a:solidFill>
          <a:ln w="19050">
            <a:solidFill>
              <a:srgbClr val="28A745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49340" y="2734056"/>
            <a:ext cx="14173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Query Salesforce API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49340" y="3255264"/>
            <a:ext cx="1417320" cy="338328"/>
          </a:xfrm>
          <a:prstGeom prst="rect">
            <a:avLst/>
          </a:prstGeom>
          <a:solidFill>
            <a:srgbClr val="D4EDDA"/>
          </a:solidFill>
          <a:ln w="19050">
            <a:solidFill>
              <a:srgbClr val="28A745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49340" y="3255264"/>
            <a:ext cx="14173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Query Sheets API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58000" y="1508760"/>
            <a:ext cx="0" cy="914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15087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858000" y="2029968"/>
            <a:ext cx="0" cy="914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20299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Tool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858000" y="2551176"/>
            <a:ext cx="0" cy="914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255117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Tool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858000" y="3072384"/>
            <a:ext cx="0" cy="914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30723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Tool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149340" y="3758184"/>
            <a:ext cx="1417320" cy="338328"/>
          </a:xfrm>
          <a:prstGeom prst="rect">
            <a:avLst/>
          </a:prstGeom>
          <a:solidFill>
            <a:srgbClr val="1E2761"/>
          </a:solidFill>
          <a:ln w="19050">
            <a:solidFill>
              <a:srgbClr val="028090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49340" y="3758184"/>
            <a:ext cx="1417320" cy="33832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AI Decision Engine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58000" y="3593592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0528" y="35935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logic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937760" y="4297680"/>
            <a:ext cx="1143000" cy="347472"/>
          </a:xfrm>
          <a:prstGeom prst="rect">
            <a:avLst/>
          </a:prstGeom>
          <a:solidFill>
            <a:srgbClr val="D4EDDA"/>
          </a:solidFill>
          <a:ln w="19050">
            <a:solidFill>
              <a:srgbClr val="28A745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37760" y="4297680"/>
            <a:ext cx="11430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Customer Email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263640" y="4297680"/>
            <a:ext cx="1143000" cy="347472"/>
          </a:xfrm>
          <a:prstGeom prst="rect">
            <a:avLst/>
          </a:prstGeom>
          <a:solidFill>
            <a:srgbClr val="D4EDDA"/>
          </a:solidFill>
          <a:ln w="19050">
            <a:solidFill>
              <a:srgbClr val="28A745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263640" y="4297680"/>
            <a:ext cx="11430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Warehouse Email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589520" y="4297680"/>
            <a:ext cx="1143000" cy="347472"/>
          </a:xfrm>
          <a:prstGeom prst="rect">
            <a:avLst/>
          </a:prstGeom>
          <a:solidFill>
            <a:srgbClr val="D4EDDA"/>
          </a:solidFill>
          <a:ln w="19050">
            <a:solidFill>
              <a:srgbClr val="28A745"/>
            </a:solidFill>
            <a:prstDash val="solid"/>
          </a:ln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589520" y="4297680"/>
            <a:ext cx="114300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Instant Sales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509260" y="4096512"/>
            <a:ext cx="0" cy="201168"/>
          </a:xfrm>
          <a:prstGeom prst="line">
            <a:avLst/>
          </a:prstGeom>
          <a:noFill/>
          <a:ln w="12700">
            <a:solidFill>
              <a:srgbClr val="28A7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89220" y="4142232"/>
            <a:ext cx="8229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28A745"/>
                </a:solidFill>
              </a:rPr>
              <a:t>Action Tool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835140" y="4096512"/>
            <a:ext cx="0" cy="201168"/>
          </a:xfrm>
          <a:prstGeom prst="line">
            <a:avLst/>
          </a:prstGeom>
          <a:noFill/>
          <a:ln w="12700">
            <a:solidFill>
              <a:srgbClr val="28A7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15100" y="4142232"/>
            <a:ext cx="8229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28A745"/>
                </a:solidFill>
              </a:rPr>
              <a:t>Action Tool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8161020" y="4096512"/>
            <a:ext cx="0" cy="201168"/>
          </a:xfrm>
          <a:prstGeom prst="line">
            <a:avLst/>
          </a:prstGeom>
          <a:noFill/>
          <a:ln w="12700">
            <a:solidFill>
              <a:srgbClr val="28A7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40980" y="4142232"/>
            <a:ext cx="82296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28A745"/>
                </a:solidFill>
              </a:rPr>
              <a:t>Action Tool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389120" y="100584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</a:rPr>
              <a:t>OrderBot Process Flow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3: Business Impact &amp; Recommended Next Steps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78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Business Outcomes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9144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4538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Costs:  </a:t>
            </a: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staff time drops from 10 minutes per order to 0.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9144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317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 min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23682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 </a:t>
            </a: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drops from hours/days to &lt; 5 minutes.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9144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461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328269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Errors:  </a:t>
            </a: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System-to-system translation guarantees 99.5% accuracy.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9144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947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8313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 </a:t>
            </a: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throughput during peak sales seasons.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1024128"/>
            <a:ext cx="0" cy="3931920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078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1371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propose a low-risk, gradual integration approach to ensure trust and accuracy: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1737360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17373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Read-Only PoC (2 weeks)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12080" y="203911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OrderBot to "Shadow Mode" to passively read emails and draft responses without actually sending them. Operations humans verify the drafts for accuracy.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2697480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26974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Hybrid Rollout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12080" y="29992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OrderBot handles unambiguous "Happy Path" orders autonomously; exceptions or edge-cases route to humans.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3657600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36576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Autonomous Tuning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12080" y="39593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Memory components so OrderBot proactively coaches sales reps on bad PDF forms.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</Words>
  <Application>Microsoft Office PowerPoint</Application>
  <PresentationFormat>On-screen Show (16:9)</PresentationFormat>
  <Paragraphs>77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OrderBot AI: Automating Fulfillment</dc:title>
  <dc:subject>PptxGenJS Presentation</dc:subject>
  <dc:creator>PptxGenJS</dc:creator>
  <cp:lastModifiedBy>P K SANGAMESWAR</cp:lastModifiedBy>
  <cp:revision>1</cp:revision>
  <dcterms:created xsi:type="dcterms:W3CDTF">2026-03-22T09:06:55Z</dcterms:created>
  <dcterms:modified xsi:type="dcterms:W3CDTF">2026-03-22T09:22:06Z</dcterms:modified>
</cp:coreProperties>
</file>